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  <p:embeddedFont>
      <p:font typeface="Orbitron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22" Type="http://schemas.openxmlformats.org/officeDocument/2006/relationships/font" Target="fonts/Urbanist-italic.fntdata"/><Relationship Id="rId21" Type="http://schemas.openxmlformats.org/officeDocument/2006/relationships/font" Target="fonts/Urbanist-bold.fntdata"/><Relationship Id="rId24" Type="http://schemas.openxmlformats.org/officeDocument/2006/relationships/font" Target="fonts/Orbitron-regular.fntdata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rbitro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e1195057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ce11950576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e1195057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ce11950576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41.png"/><Relationship Id="rId6" Type="http://schemas.openxmlformats.org/officeDocument/2006/relationships/image" Target="../media/image19.png"/><Relationship Id="rId7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40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9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36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37.png"/><Relationship Id="rId5" Type="http://schemas.openxmlformats.org/officeDocument/2006/relationships/image" Target="../media/image27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34.png"/><Relationship Id="rId5" Type="http://schemas.openxmlformats.org/officeDocument/2006/relationships/image" Target="../media/image27.png"/><Relationship Id="rId6" Type="http://schemas.openxmlformats.org/officeDocument/2006/relationships/image" Target="../media/image18.png"/><Relationship Id="rId7" Type="http://schemas.openxmlformats.org/officeDocument/2006/relationships/image" Target="../media/image39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40.png"/><Relationship Id="rId5" Type="http://schemas.openxmlformats.org/officeDocument/2006/relationships/image" Target="../media/image2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35530" y="1867048"/>
            <a:ext cx="752094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PROJET </a:t>
            </a:r>
            <a:r>
              <a:rPr b="1" i="0" lang="en-US" sz="60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MADZI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14600" y="3086248"/>
            <a:ext cx="71628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Interconnexion &amp; Déploiement Multi-Sites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14600" y="4031009"/>
            <a:ext cx="71628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Kansietoko </a:t>
            </a:r>
            <a:r>
              <a:rPr b="0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Yuung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14600" y="4579590"/>
            <a:ext cx="71628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Expertise Réseau | Année Académique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title="Capture d'écran 2026-03-09 091842.png"/>
          <p:cNvPicPr preferRelativeResize="0"/>
          <p:nvPr/>
        </p:nvPicPr>
        <p:blipFill rotWithShape="1">
          <a:blip r:embed="rId5">
            <a:alphaModFix/>
          </a:blip>
          <a:srcRect b="2481" l="0" r="0" t="2471"/>
          <a:stretch/>
        </p:blipFill>
        <p:spPr>
          <a:xfrm>
            <a:off x="1276200" y="1141575"/>
            <a:ext cx="9560299" cy="511155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TOPOLOGIGE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2310526" y="2651819"/>
            <a:ext cx="757094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I. ARCHITECTURE LAN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381625" y="3566219"/>
            <a:ext cx="142875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490787" y="3794819"/>
            <a:ext cx="72104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Segmentation par VLANs et Configuration des Switchs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34675" y="2124075"/>
            <a:ext cx="7620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title="1. Config des vlans.png"/>
          <p:cNvPicPr preferRelativeResize="0"/>
          <p:nvPr/>
        </p:nvPicPr>
        <p:blipFill rotWithShape="1">
          <a:blip r:embed="rId6">
            <a:alphaModFix/>
          </a:blip>
          <a:srcRect b="1874" l="0" r="1623" t="0"/>
          <a:stretch/>
        </p:blipFill>
        <p:spPr>
          <a:xfrm>
            <a:off x="5779050" y="2028825"/>
            <a:ext cx="6037152" cy="35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866775" y="3005435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VLAN 10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Ingénieurs (Flux prioritaires)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66775" y="3388221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VLAN 20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Techniciens (Production usine)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66775" y="3771007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VLAN 30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Administration (Gestion site)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66775" y="4153792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Trunking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Liaison 802.1Q pour le transport multi-VLAN vers les routeurs.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SEGMENTATION VLAN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00543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38822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77100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53792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977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2525" y="2124075"/>
            <a:ext cx="7810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title="2. Config des sous interfaces, attributions des vlans et Gateway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2375" y="2028825"/>
            <a:ext cx="5807426" cy="358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6619875" y="3076872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Configuration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Mise en place du Router-on-a-stick.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619875" y="3459658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Sous-interfaces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Création de passerelles logiques pour chaque segment.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619875" y="4082355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Adressage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Utilisation stratégique de l'IP de fin de plage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.254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pour les gateways.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ROUTAGE INTER-VLAN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07687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45965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082355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9400" y="2124075"/>
            <a:ext cx="10572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title="5. Verif des pools dhcp et dns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6300" y="2028825"/>
            <a:ext cx="6062225" cy="358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866775" y="3196828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Pools DHCP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Définis par site (Paris, Saclay, Toulouse).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66775" y="3579614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Exclusions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Sécurisation des gateways en excluant les adresses .254.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66775" y="4202310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DNS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Intégration du serveur DNS 8.8.8.8 pour la résolution de noms.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ADRESSAGE AUTOMATISÉ DHCP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19682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57961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0231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977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0" y="2124075"/>
            <a:ext cx="7715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title="7. config ospf et verif 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125" y="2028825"/>
            <a:ext cx="5909024" cy="35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6619875" y="3196828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Convergence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Établissement des voisinages entre R1, R2 et R3.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619875" y="3579614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Propagation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Diffusion automatique des routes LAN et WAN sur l'ensemble du réseau JET ENGINE.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619875" y="4202310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Status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État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FULL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atteint sur les adjacences série.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ROUTAGE DYNAMIQUE OSPF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19682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57961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20231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5" y="2124075"/>
            <a:ext cx="7810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81025" y="2896790"/>
            <a:ext cx="55406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PROBLÈME CLOCK RATE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81025" y="3296840"/>
            <a:ext cx="52768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Interface série Se 5/0 inactive suite à une absence de signal d'horloge sur le port DCE.</a:t>
            </a:r>
            <a:endParaRPr/>
          </a:p>
        </p:txBody>
      </p:sp>
      <p:pic>
        <p:nvPicPr>
          <p:cNvPr id="181" name="Google Shape;181;p20" title="9. Config du clock rate et teste de ping vers R2 et R3.png"/>
          <p:cNvPicPr preferRelativeResize="0"/>
          <p:nvPr/>
        </p:nvPicPr>
        <p:blipFill rotWithShape="1">
          <a:blip r:embed="rId6">
            <a:alphaModFix/>
          </a:blip>
          <a:srcRect b="29254" l="0" r="0" t="10665"/>
          <a:stretch/>
        </p:blipFill>
        <p:spPr>
          <a:xfrm>
            <a:off x="6353175" y="2028825"/>
            <a:ext cx="523875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866775" y="3967162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Diagnostic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Utilisation de "show controllers".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66775" y="4349948"/>
            <a:ext cx="49911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Résolution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Application du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clock rate 128000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sur R1.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INCIDENT R1 : SYNCHRONISATION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96716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349948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3250" y="2124075"/>
            <a:ext cx="7334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81025" y="3133725"/>
            <a:ext cx="5277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100%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81025" y="4276725"/>
            <a:ext cx="527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Taux de réussite </a:t>
            </a:r>
            <a:endParaRPr/>
          </a:p>
        </p:txBody>
      </p:sp>
      <p:pic>
        <p:nvPicPr>
          <p:cNvPr id="197" name="Google Shape;197;p21" title="10. Teste de ping inter-site .png"/>
          <p:cNvPicPr preferRelativeResize="0"/>
          <p:nvPr/>
        </p:nvPicPr>
        <p:blipFill rotWithShape="1">
          <a:blip r:embed="rId6">
            <a:alphaModFix/>
          </a:blip>
          <a:srcRect b="0" l="0" r="-1585" t="0"/>
          <a:stretch/>
        </p:blipFill>
        <p:spPr>
          <a:xfrm>
            <a:off x="4243750" y="1283575"/>
            <a:ext cx="7813824" cy="43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VALIDATION INTER-SITES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81025" y="581025"/>
            <a:ext cx="47700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54783"/>
            <a:ext cx="3486150" cy="2529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554783"/>
            <a:ext cx="3486150" cy="2529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554783"/>
            <a:ext cx="3486150" cy="252948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803910" y="3497758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RAM VMWARE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876300" y="3897808"/>
            <a:ext cx="28956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Augmentation de l'allocation RAM pour stabiliser l'émulation GNS3.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575810" y="3497758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SAUVEGARDES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4648200" y="3897808"/>
            <a:ext cx="28956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Gestion des pertes de données suite aux mises à jour système automatiques.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347710" y="3497758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OPTIMISATION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420100" y="3897808"/>
            <a:ext cx="28956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Correctif appliqué sur R1 pour une communication intégrale vers Paris.</a:t>
            </a:r>
            <a:endParaRPr/>
          </a:p>
        </p:txBody>
      </p:sp>
      <p:pic>
        <p:nvPicPr>
          <p:cNvPr descr="image.png" id="214" name="Google Shape;21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9787" y="287863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287863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87863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ANALYSES POST-DÉPLOIEMENT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35597"/>
            <a:ext cx="34861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35597"/>
            <a:ext cx="34861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35597"/>
            <a:ext cx="34861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81025" y="4683472"/>
            <a:ext cx="3486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1. Configuration des vlans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4352925" y="4683472"/>
            <a:ext cx="3486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2. Configuration des sous interfaces, attributions des vlans et Gateway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124825" y="4683472"/>
            <a:ext cx="3486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3. configuration  des modes trunks et des autorisations des vlans</a:t>
            </a:r>
            <a:endParaRPr/>
          </a:p>
        </p:txBody>
      </p:sp>
      <p:pic>
        <p:nvPicPr>
          <p:cNvPr id="230" name="Google Shape;230;p23" title="1. Config des vlans.png"/>
          <p:cNvPicPr preferRelativeResize="0"/>
          <p:nvPr/>
        </p:nvPicPr>
        <p:blipFill rotWithShape="1">
          <a:blip r:embed="rId7">
            <a:alphaModFix/>
          </a:blip>
          <a:srcRect b="1719" l="0" r="0" t="1719"/>
          <a:stretch/>
        </p:blipFill>
        <p:spPr>
          <a:xfrm>
            <a:off x="600075" y="2654647"/>
            <a:ext cx="34480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title="2. Config des sous interfaces, attributions des vlans et Gateway.png"/>
          <p:cNvPicPr preferRelativeResize="0"/>
          <p:nvPr/>
        </p:nvPicPr>
        <p:blipFill rotWithShape="1">
          <a:blip r:embed="rId8">
            <a:alphaModFix/>
          </a:blip>
          <a:srcRect b="1784" l="0" r="0" t="1784"/>
          <a:stretch/>
        </p:blipFill>
        <p:spPr>
          <a:xfrm>
            <a:off x="4371975" y="2654647"/>
            <a:ext cx="34480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title="3. config des modes trunks et des autorisations des vlans.png"/>
          <p:cNvPicPr preferRelativeResize="0"/>
          <p:nvPr/>
        </p:nvPicPr>
        <p:blipFill rotWithShape="1">
          <a:blip r:embed="rId9">
            <a:alphaModFix/>
          </a:blip>
          <a:srcRect b="1858" l="0" r="0" t="1849"/>
          <a:stretch/>
        </p:blipFill>
        <p:spPr>
          <a:xfrm>
            <a:off x="8143875" y="2654647"/>
            <a:ext cx="3448050" cy="18669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ANNEXE 1 : PREUVES TECHNIQUE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35597"/>
            <a:ext cx="34861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35597"/>
            <a:ext cx="34861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35597"/>
            <a:ext cx="34861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581025" y="4683472"/>
            <a:ext cx="3486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4. Verification des sous interfaces, attributions des vlans et Gateway ( Routeur )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4352925" y="4683472"/>
            <a:ext cx="3486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5. Verification des pools dhcp et dns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8124825" y="4683472"/>
            <a:ext cx="3486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6. Verification des ip attribuer en dhcp</a:t>
            </a:r>
            <a:endParaRPr/>
          </a:p>
        </p:txBody>
      </p:sp>
      <p:pic>
        <p:nvPicPr>
          <p:cNvPr id="246" name="Google Shape;246;p24" title="4. Verif des sous interfaces, attributions des vlans et Gateway ( Routeur ).png"/>
          <p:cNvPicPr preferRelativeResize="0"/>
          <p:nvPr/>
        </p:nvPicPr>
        <p:blipFill rotWithShape="1">
          <a:blip r:embed="rId7">
            <a:alphaModFix/>
          </a:blip>
          <a:srcRect b="1784" l="0" r="0" t="1784"/>
          <a:stretch/>
        </p:blipFill>
        <p:spPr>
          <a:xfrm>
            <a:off x="581025" y="2654647"/>
            <a:ext cx="34480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title="5. Verif des pools dhcp et dns.png"/>
          <p:cNvPicPr preferRelativeResize="0"/>
          <p:nvPr/>
        </p:nvPicPr>
        <p:blipFill rotWithShape="1">
          <a:blip r:embed="rId8">
            <a:alphaModFix/>
          </a:blip>
          <a:srcRect b="1978" l="0" r="0" t="1988"/>
          <a:stretch/>
        </p:blipFill>
        <p:spPr>
          <a:xfrm>
            <a:off x="4371975" y="2654647"/>
            <a:ext cx="3448050" cy="186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title="6. Verif des ip attribuer en dhcp.png"/>
          <p:cNvPicPr preferRelativeResize="0"/>
          <p:nvPr/>
        </p:nvPicPr>
        <p:blipFill rotWithShape="1">
          <a:blip r:embed="rId9">
            <a:alphaModFix/>
          </a:blip>
          <a:srcRect b="1858" l="0" r="0" t="1849"/>
          <a:stretch/>
        </p:blipFill>
        <p:spPr>
          <a:xfrm>
            <a:off x="8143875" y="2654647"/>
            <a:ext cx="3448050" cy="186690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ANNEXE 2 : </a:t>
            </a:r>
            <a:r>
              <a:rPr b="1" lang="en-US" sz="315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PREUVES TECHNIQUE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35597"/>
            <a:ext cx="34861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35597"/>
            <a:ext cx="34861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35597"/>
            <a:ext cx="34861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581025" y="4683472"/>
            <a:ext cx="3486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7. configuration du routage  ospf et verification  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4352925" y="4683472"/>
            <a:ext cx="3486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8. Probleme de conflit d'horloge sur R1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8124825" y="4683472"/>
            <a:ext cx="3486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9. Configuration  du clockrate et teste de ping vers R2 et R3</a:t>
            </a:r>
            <a:endParaRPr/>
          </a:p>
        </p:txBody>
      </p:sp>
      <p:pic>
        <p:nvPicPr>
          <p:cNvPr id="262" name="Google Shape;262;p25" title="7. config ospf et verif .png"/>
          <p:cNvPicPr preferRelativeResize="0"/>
          <p:nvPr/>
        </p:nvPicPr>
        <p:blipFill rotWithShape="1">
          <a:blip r:embed="rId7">
            <a:alphaModFix/>
          </a:blip>
          <a:srcRect b="1447" l="0" r="0" t="1447"/>
          <a:stretch/>
        </p:blipFill>
        <p:spPr>
          <a:xfrm>
            <a:off x="581025" y="2654647"/>
            <a:ext cx="34480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 title="8. Probleme de conflit d'horloge sur R1.png"/>
          <p:cNvPicPr preferRelativeResize="0"/>
          <p:nvPr/>
        </p:nvPicPr>
        <p:blipFill rotWithShape="1">
          <a:blip r:embed="rId8">
            <a:alphaModFix/>
          </a:blip>
          <a:srcRect b="24768" l="0" r="0" t="24768"/>
          <a:stretch/>
        </p:blipFill>
        <p:spPr>
          <a:xfrm>
            <a:off x="4371975" y="2654647"/>
            <a:ext cx="3448051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 title="9. Config du clock rate et teste de ping vers R2 et R3.png"/>
          <p:cNvPicPr preferRelativeResize="0"/>
          <p:nvPr/>
        </p:nvPicPr>
        <p:blipFill rotWithShape="1">
          <a:blip r:embed="rId9">
            <a:alphaModFix/>
          </a:blip>
          <a:srcRect b="26209" l="0" r="0" t="26209"/>
          <a:stretch/>
        </p:blipFill>
        <p:spPr>
          <a:xfrm>
            <a:off x="8143875" y="2654647"/>
            <a:ext cx="3448051" cy="18669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ANNEXE </a:t>
            </a:r>
            <a:r>
              <a:rPr b="1" lang="en-US" sz="315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3</a:t>
            </a:r>
            <a:r>
              <a:rPr b="1" i="0" lang="en-US" sz="31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 : </a:t>
            </a:r>
            <a:r>
              <a:rPr b="1" lang="en-US" sz="315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PREUVES TECHNIQUE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81025" y="581025"/>
            <a:ext cx="47700" cy="495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2725578" y="2270819"/>
            <a:ext cx="674084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QUESTIONS ?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2886075" y="3413819"/>
            <a:ext cx="64198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Merci pour votre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